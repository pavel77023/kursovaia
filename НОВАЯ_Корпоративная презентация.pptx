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9" r:id="rId3"/>
    <p:sldId id="276" r:id="rId4"/>
    <p:sldId id="264" r:id="rId5"/>
    <p:sldId id="268" r:id="rId6"/>
    <p:sldId id="269" r:id="rId7"/>
    <p:sldId id="270" r:id="rId8"/>
    <p:sldId id="271" r:id="rId9"/>
    <p:sldId id="281" r:id="rId10"/>
    <p:sldId id="263" r:id="rId11"/>
    <p:sldId id="278" r:id="rId12"/>
    <p:sldId id="272" r:id="rId14"/>
    <p:sldId id="282" r:id="rId15"/>
    <p:sldId id="280" r:id="rId16"/>
    <p:sldId id="27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391"/>
    <a:srgbClr val="764596"/>
    <a:srgbClr val="4C4291"/>
    <a:srgbClr val="414291"/>
    <a:srgbClr val="484393"/>
    <a:srgbClr val="9C478A"/>
    <a:srgbClr val="AA5191"/>
    <a:srgbClr val="2B5BA5"/>
    <a:srgbClr val="285AA4"/>
    <a:srgbClr val="31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12" autoAdjust="0"/>
  </p:normalViewPr>
  <p:slideViewPr>
    <p:cSldViewPr snapToGrid="0" showGuides="1">
      <p:cViewPr varScale="1">
        <p:scale>
          <a:sx n="106" d="100"/>
          <a:sy n="106" d="100"/>
        </p:scale>
        <p:origin x="65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88A39-FBD0-4803-B081-179227C31304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952AC-C0F5-4488-AF91-33EF88CB97A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952AC-C0F5-4488-AF91-33EF88CB97A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«ТЕМА КУРСОВОЙ РАБОТЫ (ПРОЕКТА)»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>
            <a:fillRect/>
          </a:stretch>
        </p:blipFill>
        <p:spPr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ИВАНОВ ИВАН ИВАНОВИЧ</a:t>
            </a:r>
            <a:endParaRPr lang="ru-RU" dirty="0" smtClean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37150" y="1359011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  <a:endParaRPr lang="ru-RU" sz="18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Н1812</a:t>
            </a:r>
            <a:endParaRPr lang="ru-RU" dirty="0"/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МОСКВА 2026</a:t>
            </a:r>
            <a:endParaRPr lang="ru-RU" dirty="0"/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570629" y="5179157"/>
            <a:ext cx="6250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50000"/>
              </a:lnSpc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>
          <a:xfrm>
            <a:off x="3933594" y="5615020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ФАМИЛИЯ И.О.</a:t>
            </a:r>
            <a:endParaRPr lang="ru-RU" dirty="0" smtClean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 rtl="0" eaLnBrk="1" latinLnBrk="0" hangingPunct="1"/>
            <a:r>
              <a:rPr lang="ru-RU" sz="1200" kern="1200" dirty="0" smtClean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ДЕПАРТАМЕНТ ОБРАЗОВАНИЯ И НАУКИ ГОРОДА МОСКВЫ</a:t>
            </a:r>
            <a:endParaRPr lang="ru-RU" sz="1200" kern="1200" dirty="0" smtClean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ru-RU" sz="1200" kern="1200" dirty="0" smtClean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города Москвы</a:t>
            </a:r>
            <a:endParaRPr lang="ru-RU" sz="1200" kern="1200" dirty="0" smtClean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ru-RU" sz="1200" kern="1200" dirty="0" smtClean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«Колледж автоматизации и информационных технологий № 20»</a:t>
            </a:r>
            <a:endParaRPr lang="ru-RU" sz="1200" kern="1200" dirty="0" smtClean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 ПОДРАЗДЕЛА</a:t>
            </a:r>
            <a:endParaRPr lang="ru-RU" dirty="0" smtClean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 smtClean="0"/>
              <a:t>Подзаголовок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 smtClean="0"/>
              <a:t>Подзаголовок</a:t>
            </a:r>
            <a:endParaRPr lang="ru-RU" dirty="0" smtClean="0"/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 smtClean="0"/>
              <a:t>Подзаголовок</a:t>
            </a:r>
            <a:endParaRPr lang="ru-RU" dirty="0" smtClean="0"/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для вставки таблицы, диаграммы, схемы, видео, фото, рисунок.</a:t>
            </a:r>
            <a:endParaRPr lang="ru-RU" dirty="0" smtClean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 smtClean="0"/>
              <a:t>Образец подзаголовок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>
          <a:xfrm>
            <a:off x="8381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 smtClean="0"/>
              <a:t>Подзаголовок</a:t>
            </a:r>
            <a:endParaRPr lang="ru-RU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Вставьте текст</a:t>
            </a:r>
            <a:endParaRPr lang="ru-RU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5484576" y="328229"/>
            <a:ext cx="6438483" cy="6147228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4990474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Вставьте текст</a:t>
            </a:r>
            <a:endParaRPr lang="ru-RU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8840636" y="3403122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504654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Вставьте текст</a:t>
            </a:r>
            <a:endParaRPr lang="ru-RU" dirty="0" smtClean="0"/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>
          <a:xfrm>
            <a:off x="5596693" y="3403121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8840636" y="328228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>
          <a:xfrm>
            <a:off x="5596693" y="328227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Кликните чтобы вставить фото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  <a:endParaRPr lang="ru-RU" dirty="0" smtClean="0"/>
          </a:p>
          <a:p>
            <a:pPr lvl="1"/>
            <a:r>
              <a:rPr lang="ru-RU" dirty="0" smtClean="0"/>
              <a:t>Второй уровень</a:t>
            </a:r>
            <a:endParaRPr lang="ru-RU" dirty="0" smtClean="0"/>
          </a:p>
          <a:p>
            <a:pPr lvl="2"/>
            <a:r>
              <a:rPr lang="ru-RU" dirty="0" smtClean="0"/>
              <a:t>Третий уровень</a:t>
            </a:r>
            <a:endParaRPr lang="ru-RU" dirty="0" smtClean="0"/>
          </a:p>
          <a:p>
            <a:pPr lvl="3"/>
            <a:r>
              <a:rPr lang="ru-RU" dirty="0" smtClean="0"/>
              <a:t>Четвертый уровень</a:t>
            </a:r>
            <a:endParaRPr lang="ru-RU" dirty="0" smtClean="0"/>
          </a:p>
          <a:p>
            <a:pPr lvl="3"/>
            <a:endParaRPr lang="ru-RU" dirty="0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E0170-5F17-4EB0-BFA4-80529005E78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0E90D-BAE5-4CAD-8485-89BE0E092D9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Разработка приложения для планирования графика работы тренеров фитнес-центра</a:t>
            </a:r>
            <a:endParaRPr lang="ru-RU" sz="20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Лахтин Павел Александрович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/>
          </p:nvPr>
        </p:nvSpPr>
        <p:spPr>
          <a:xfrm>
            <a:off x="3952875" y="3997960"/>
            <a:ext cx="1331595" cy="367030"/>
          </a:xfrm>
        </p:spPr>
        <p:txBody>
          <a:bodyPr/>
          <a:lstStyle/>
          <a:p>
            <a:r>
              <a:rPr lang="ru-RU" dirty="0" smtClean="0"/>
              <a:t>ИСП332д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 smtClean="0"/>
              <a:t>ЛИСАВИНА А. 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Цель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</a:pPr>
            <a:r>
              <a:rPr lang="ru-RU" altLang="en-US" sz="2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Цель работы: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Разработка </a:t>
            </a:r>
            <a:r>
              <a:rPr lang="ru-RU" altLang="en-US" sz="2800" dirty="0"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 «</a:t>
            </a:r>
            <a:r>
              <a:rPr lang="en-US" altLang="ru-RU" sz="2800" dirty="0">
                <a:latin typeface="Times New Roman" panose="02020603050405020304" charset="0"/>
                <a:cs typeface="Times New Roman" panose="02020603050405020304" charset="0"/>
              </a:rPr>
              <a:t>TrainerPlanner» 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для автоматизации процесса управления расписанием тренеров в фитнес-центре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altLang="en-US" sz="2800" dirty="0">
                <a:latin typeface="Times New Roman" panose="02020603050405020304" charset="0"/>
                <a:cs typeface="Times New Roman" panose="02020603050405020304" charset="0"/>
              </a:rPr>
              <a:t>П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ланирование и контроль графика занятий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altLang="en-US" sz="2800" dirty="0">
                <a:latin typeface="Times New Roman" panose="02020603050405020304" charset="0"/>
                <a:cs typeface="Times New Roman" panose="02020603050405020304" charset="0"/>
              </a:rPr>
              <a:t>Удобство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 управления клиентами и тренерами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Снижение ошибок при ручном составлении расписания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Обеспечение централизованного хранения данных о занятиях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Задачи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Задачи работы: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Анализ предметной области и выявление бизнес-процессов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Проектирование структуры базы данных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Реализация пользовательского интерфейса с использованием </a:t>
            </a:r>
            <a:r>
              <a:rPr lang="en-US" altLang="ru-RU" sz="2400" dirty="0"/>
              <a:t>WPF</a:t>
            </a:r>
            <a:endParaRPr lang="en-US" alt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Создание механизма управления расписанием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Обеспечение локализации интерфейса на русский язык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Тестирование и отладка приложения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838200" y="1144270"/>
            <a:ext cx="10515600" cy="5505450"/>
          </a:xfrm>
        </p:spPr>
        <p:txBody>
          <a:bodyPr numCol="2">
            <a:normAutofit fontScale="80000"/>
          </a:bodyPr>
          <a:lstStyle/>
          <a:p>
            <a:pPr algn="just">
              <a:buFont typeface="Arial" panose="020B0604020202020204" pitchFamily="34" charset="0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Актуальность разработки 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планирования графика работы тренеров фитнес-центра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. В нынешнее время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фитнес-индустрии в России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 развивается довольно активно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. Это создает новые вызовы в управлении персоналом и расписанием тренеров.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Проблемы традиционных методов планирования: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Ручное составление расписания приводит к ошибкам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Отсутствие единой базы данных приводит к дублированию записей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Проблема в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информировани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клиентов о изменениях в расписании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Проблемы в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учет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е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персональных тренировок в условиях высокой загруженности тренеров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Arial" panose="020B0604020202020204" pitchFamily="34" charset="0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Особенности современных фитнес-центров: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Смешанный формат работы: групповые занятия + персональные тренировки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Необходимость учета индивидуальных особенностей клиентов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Требования к персональной защите данных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Arial" panose="020B0604020202020204" pitchFamily="34" charset="0"/>
            </a:pP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Преимущества автоматизации: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Сокращение времени на составление расписания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Сокращение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количества ошибок в расписании</a:t>
            </a: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altLang="en-US" sz="2400" dirty="0">
                <a:latin typeface="Times New Roman" panose="02020603050405020304" charset="0"/>
                <a:cs typeface="Times New Roman" panose="02020603050405020304" charset="0"/>
              </a:rPr>
              <a:t>Улучшение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взаимодействия между администратором, тренерами и клиентами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Используемый стек технологий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algn="just"/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Платформа и язык программирования: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ru-RU" sz="2000" dirty="0" smtClean="0">
                <a:latin typeface="Times New Roman" panose="02020603050405020304" charset="0"/>
                <a:cs typeface="Times New Roman" panose="02020603050405020304" charset="0"/>
              </a:rPr>
              <a:t>.NET Framework 4.7.2</a:t>
            </a:r>
            <a:endParaRPr lang="en-US" altLang="ru-RU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ru-RU" sz="2000" dirty="0" smtClean="0">
                <a:latin typeface="Times New Roman" panose="02020603050405020304" charset="0"/>
                <a:cs typeface="Times New Roman" panose="02020603050405020304" charset="0"/>
              </a:rPr>
              <a:t>C# (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версия 10.0)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ru-RU" sz="2000" dirty="0" smtClean="0">
                <a:latin typeface="Times New Roman" panose="02020603050405020304" charset="0"/>
                <a:cs typeface="Times New Roman" panose="02020603050405020304" charset="0"/>
              </a:rPr>
              <a:t>System.Data.SQLite.Core (NuGet-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пакет)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Работа с данными: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ru-RU" sz="2000" dirty="0" smtClean="0">
                <a:latin typeface="Times New Roman" panose="02020603050405020304" charset="0"/>
                <a:cs typeface="Times New Roman" panose="02020603050405020304" charset="0"/>
              </a:rPr>
              <a:t>SQLite (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локальная СУБД)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ru-RU" sz="2000" dirty="0" smtClean="0">
                <a:latin typeface="Times New Roman" panose="02020603050405020304" charset="0"/>
                <a:cs typeface="Times New Roman" panose="02020603050405020304" charset="0"/>
              </a:rPr>
              <a:t>System.Data.SQLite.Core (NuGet-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пакет)</a:t>
            </a:r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26" name="Picture 2" descr="GitHub - daniel2IT/CarAndGoWebApp: Here is a ASP.NET Core MVC Application, wher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52" y="2492007"/>
            <a:ext cx="2547025" cy="159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487" y="2491974"/>
            <a:ext cx="1444160" cy="166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900" y="2491740"/>
            <a:ext cx="1791970" cy="183324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610" y="4687570"/>
            <a:ext cx="3667125" cy="124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«сущность-связь»</a:t>
            </a:r>
            <a:endParaRPr lang="ru-RU" dirty="0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57750" y="1299845"/>
            <a:ext cx="7183755" cy="499046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718820" y="1296670"/>
            <a:ext cx="4064000" cy="4993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ru-RU"/>
          </a:p>
          <a:p>
            <a:endParaRPr lang="en-US" altLang="ru-RU"/>
          </a:p>
          <a:p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Trainers (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тренеры) имеют отношение "многие к одному" с </a:t>
            </a: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ScheduleItems (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расписание)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Clients (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клиенты) имеют отношение "многие к многим" с </a:t>
            </a: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ScheduleItems</a:t>
            </a:r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Все таблицы отображают структуру полей с указанием типов данных и ограничений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вариантов использования</a:t>
            </a:r>
            <a:endParaRPr lang="ru-RU" dirty="0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9435" y="1398905"/>
            <a:ext cx="6381750" cy="479107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102870" y="1143635"/>
            <a:ext cx="553656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Акторы системы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1. Актор "Тренер"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Представляет пользователя, который: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просматривать своё расписание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Не имеет права на добавление, удаление или редактирование занятий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Не имеет доступа к управлению тренерами и клиентами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2. Актор "Администратор"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Представляет пользователя с полным доступом к системе: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просматривать расписание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добавлять, удалять и редактировать занятия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управлять данными тренеров и клиентов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экспортировать данные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3. Актор "Клиент"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Представляет пользователя, который: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Может просматривать расписание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Не имеет доступа к другим функциям системы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Диаграмма </a:t>
            </a:r>
            <a:r>
              <a:rPr lang="ru-RU" smtClean="0"/>
              <a:t>активностей</a:t>
            </a:r>
            <a:endParaRPr lang="ru-RU" dirty="0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26475" y="1299845"/>
            <a:ext cx="3380740" cy="499046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8580" y="1143635"/>
            <a:ext cx="8557895" cy="571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 Основные действия (активности)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Добавление нового занятия: Администратор нажимает кнопку "Добавить занятие" в главном окне приложения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 тренера: Администратор выбирает тренера из выпадающего списка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 даты и времени: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Ввод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даты и времени начала и окончания занятия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Ввод ФИО клиента: Ввод информации о клиенте (или клиентов для групповых занятий)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 типа занятия: Определение типа занятия (групповое или персональное)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Проверка валидации: Проверка корректности введенных данных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Сохранение занятия: Сохранение данных в базе данных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Обновление интерфейса: Обновление таблицы расписания в реальном времени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 Решения и условия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Проверка валидации: Ромб, обозначающий точку принятия решения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Да: Данные корректны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, то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процесс продолжается к сохранению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Нет: Данные некорректны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, то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отображается сообщение об ошибке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 Ошибки и обработки исключений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Ошибка валидации: Отображается красным цветом для выделения проблемной зоны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Показ сообщения об ошибке: Пользователь получает уведомление о некорректных данных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226310"/>
            <a:ext cx="5067300" cy="3470275"/>
          </a:xfrm>
          <a:prstGeom prst="rect">
            <a:avLst/>
          </a:prstGeom>
        </p:spPr>
      </p:pic>
      <p:pic>
        <p:nvPicPr>
          <p:cNvPr id="5" name="Замещающее содержимое 4"/>
          <p:cNvPicPr>
            <a:picLocks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6533515" y="2533015"/>
            <a:ext cx="45720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7005" y="1786255"/>
            <a:ext cx="3868420" cy="4351655"/>
          </a:xfrm>
          <a:prstGeom prst="rect">
            <a:avLst/>
          </a:prstGeom>
        </p:spPr>
      </p:pic>
      <p:pic>
        <p:nvPicPr>
          <p:cNvPr id="5" name="Замещающее содержимое 4"/>
          <p:cNvPicPr>
            <a:picLocks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6881495" y="2999740"/>
            <a:ext cx="3876675" cy="1924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 программного кода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/>
          </a:bodyPr>
          <a:lstStyle/>
          <a:p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1)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Код модели данных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Программный код модели расписания- 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ScheduleItem.cs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System.Collections.Generic;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System.Linq;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System.Text;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System.Threading.Tasks;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namespace TrainerPlanner.Models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public class ScheduleItem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int Id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int TrainerId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DateTime StartTime { get; set; }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Начало занятия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DateTime EndTime { get; set; }  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Окончание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Type { get; set; }       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Групповое/персональное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int MaxClients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ClientName { get; set; } = string.Empty; 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ФИО клиента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TrainerName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// Для отображения в 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DataGrid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DisplayTime =&gt; $"{StartTime:HH:mm} - {EndTime:HH:mm}";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//для выбора записей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bool IsSelected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 программного кода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2)Программный код модели тренера -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Trainer.cs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System.Collections.Generic;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System.Linq;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System.Text;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System.Threading.Tasks;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namespace TrainerPlanner.Models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public class Trainer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int Id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FullName { get; set; }     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ФИО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Specialization { get; set; }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Специализация 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string Phone { get; set; }          //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Телефон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bool IsActive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bool IsSelected { get; set;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public override string ToString() =&gt; FullName;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Заключение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В ходе выполнения курсовой работы была разработана информационная система «</a:t>
            </a:r>
            <a:r>
              <a:rPr lang="en-US" altLang="ru-RU" sz="2400" dirty="0"/>
              <a:t>TrainerPlanner» </a:t>
            </a:r>
            <a:r>
              <a:rPr lang="en-US" altLang="en-US" sz="2400" dirty="0"/>
              <a:t>для автоматизации процесса управления расписанием тренеров в фитнес-центре. Проект реализован в соответствии с современными принципами проектирования программного обеспечения и отвечает всем требованиям. Целью работы являлась разработка удобного и функционального инструмента, позволяющего администратору фитнес-центра эффективно управлять графиком занятий, добавлять новых клиентов и тренеров, а также оперативно вносить изменения в расписание. </a:t>
            </a:r>
            <a:endParaRPr lang="en-US" alt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Поставленная цель была достигнута за счёт реализации всех запланированных функций: просмотра расписания по датам, добавления и удаления занятий, управления списком тренеров и ведения базы клиентов.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694206" y="223290"/>
            <a:ext cx="8645178" cy="1117137"/>
          </a:xfrm>
        </p:spPr>
        <p:txBody>
          <a:bodyPr>
            <a:normAutofit/>
          </a:bodyPr>
          <a:lstStyle/>
          <a:p>
            <a:r>
              <a:rPr lang="ru-RU" sz="4000" dirty="0"/>
              <a:t>Спасибо за внимание!</a:t>
            </a:r>
            <a:endParaRPr lang="ru-RU" sz="4000" dirty="0"/>
          </a:p>
        </p:txBody>
      </p:sp>
      <p:sp>
        <p:nvSpPr>
          <p:cNvPr id="8" name="Текст 9"/>
          <p:cNvSpPr>
            <a:spLocks noGrp="1"/>
          </p:cNvSpPr>
          <p:nvPr>
            <p:ph type="body" sz="quarter" idx="10"/>
          </p:nvPr>
        </p:nvSpPr>
        <p:spPr>
          <a:xfrm>
            <a:off x="1723458" y="4566153"/>
            <a:ext cx="6700974" cy="7064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Лахтин Павел Александрович</a:t>
            </a:r>
            <a:endParaRPr lang="ru-RU" dirty="0"/>
          </a:p>
        </p:txBody>
      </p:sp>
      <p:sp>
        <p:nvSpPr>
          <p:cNvPr id="11" name="Текст 9"/>
          <p:cNvSpPr>
            <a:spLocks noGrp="1"/>
          </p:cNvSpPr>
          <p:nvPr>
            <p:ph type="body" sz="quarter" idx="4294967295"/>
          </p:nvPr>
        </p:nvSpPr>
        <p:spPr>
          <a:xfrm>
            <a:off x="4929447" y="4113415"/>
            <a:ext cx="1097280" cy="3667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smtClean="0"/>
              <a:t>ИСП332д</a:t>
            </a:r>
            <a:endParaRPr lang="ru-RU" dirty="0"/>
          </a:p>
        </p:txBody>
      </p:sp>
      <p:sp>
        <p:nvSpPr>
          <p:cNvPr id="14" name="Текст 14"/>
          <p:cNvSpPr>
            <a:spLocks noGrp="1"/>
          </p:cNvSpPr>
          <p:nvPr>
            <p:ph type="body" sz="quarter" idx="4294967295"/>
          </p:nvPr>
        </p:nvSpPr>
        <p:spPr>
          <a:xfrm>
            <a:off x="5090827" y="5381785"/>
            <a:ext cx="2300287" cy="4048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ЛИСАВИНА А. В.</a:t>
            </a:r>
            <a:endParaRPr lang="ru-RU" dirty="0"/>
          </a:p>
        </p:txBody>
      </p:sp>
      <p:sp>
        <p:nvSpPr>
          <p:cNvPr id="4" name="Заголовок 1"/>
          <p:cNvSpPr txBox="1"/>
          <p:nvPr/>
        </p:nvSpPr>
        <p:spPr>
          <a:xfrm>
            <a:off x="1723457" y="2400712"/>
            <a:ext cx="6734741" cy="152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>
                <a:sym typeface="+mn-ea"/>
              </a:rPr>
              <a:t>Разработка приложения для планирования графика работы тренеров фитнес-центра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>
            <a:fillRect/>
          </a:stretch>
        </p:blipFill>
        <p:spPr>
          <a:xfrm>
            <a:off x="8458199" y="1241817"/>
            <a:ext cx="3331931" cy="2871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908" y="4126718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725910" y="1475609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  <a:endParaRPr lang="ru-RU" sz="18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23458" y="2070798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732126" y="4984028"/>
            <a:ext cx="3521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50000"/>
              </a:lnSpc>
            </a:pPr>
            <a:r>
              <a:rPr lang="ru-RU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  <a:endParaRPr lang="ru-RU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6254</Words>
  <Application>WPS Presentation</Application>
  <PresentationFormat>Широкоэкранный</PresentationFormat>
  <Paragraphs>194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Algerian</vt:lpstr>
      <vt:lpstr>Book Antiqua</vt:lpstr>
      <vt:lpstr>Times New Roman</vt:lpstr>
      <vt:lpstr>1_Тема Office</vt:lpstr>
      <vt:lpstr>Разработка информационной системы для ООО «Ромашка»</vt:lpstr>
      <vt:lpstr>Цель</vt:lpstr>
      <vt:lpstr>Задачи</vt:lpstr>
      <vt:lpstr>Актуальность</vt:lpstr>
      <vt:lpstr>Используемый стек технологий</vt:lpstr>
      <vt:lpstr>Диаграмма «сущность-связь»</vt:lpstr>
      <vt:lpstr>Диаграмма вариантов использования</vt:lpstr>
      <vt:lpstr>Диаграмма активностей</vt:lpstr>
      <vt:lpstr>Интерфейс системы</vt:lpstr>
      <vt:lpstr>Интерфейс системы</vt:lpstr>
      <vt:lpstr>Фрагмент программного кода</vt:lpstr>
      <vt:lpstr>Фрагмент программного кода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user</cp:lastModifiedBy>
  <cp:revision>95</cp:revision>
  <dcterms:created xsi:type="dcterms:W3CDTF">2023-03-20T17:08:00Z</dcterms:created>
  <dcterms:modified xsi:type="dcterms:W3CDTF">2026-04-28T16:56:06Z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CE6356CE415143E2A49100DF424518DF_12</vt:lpwstr>
  </property>
  <property fmtid="{D5CDD505-2E9C-101B-9397-08002B2CF9AE}" pid="3" name="KSOProductBuildVer">
    <vt:lpwstr>1049-12.1.0.25862</vt:lpwstr>
  </property>
</Properties>
</file>